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7" d="100"/>
          <a:sy n="97" d="100"/>
        </p:scale>
        <p:origin x="-115" y="2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1974016"/>
        <c:axId val="42369024"/>
      </c:lineChart>
      <c:catAx>
        <c:axId val="41974016"/>
        <c:scaling>
          <c:orientation val="minMax"/>
        </c:scaling>
        <c:delete val="0"/>
        <c:axPos val="b"/>
        <c:majorTickMark val="out"/>
        <c:minorTickMark val="none"/>
        <c:tickLblPos val="nextTo"/>
        <c:crossAx val="42369024"/>
        <c:crosses val="autoZero"/>
        <c:auto val="1"/>
        <c:lblAlgn val="ctr"/>
        <c:lblOffset val="100"/>
        <c:noMultiLvlLbl val="0"/>
      </c:catAx>
      <c:valAx>
        <c:axId val="423690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197401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D2B38-6C6D-4F74-8ABD-B4EB6BF618F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42796-DDA0-4EC1-9A5E-12356799B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93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85800" y="5349903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508000" y="4853412"/>
            <a:ext cx="112776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08000" y="3886200"/>
            <a:ext cx="112776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9/20/2026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10972800" y="6473952"/>
            <a:ext cx="1011936" cy="246888"/>
          </a:xfrm>
        </p:spPr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9/20/2026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4775200" y="76201"/>
            <a:ext cx="3860800" cy="288925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10972800" y="6473952"/>
            <a:ext cx="1011936" cy="246888"/>
          </a:xfrm>
        </p:spPr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85800" y="3444903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8000" y="1676400"/>
            <a:ext cx="112776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9/20/2026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40633" y="2947086"/>
            <a:ext cx="115824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402336" y="457200"/>
            <a:ext cx="115824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406400" y="1600200"/>
            <a:ext cx="5588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7912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9/20/2026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406400" y="5410200"/>
            <a:ext cx="114808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75259" y="666750"/>
            <a:ext cx="57207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6193367" y="666750"/>
            <a:ext cx="5722988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375259" y="1316038"/>
            <a:ext cx="5720741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6198307" y="1316038"/>
            <a:ext cx="571804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972800" y="6477000"/>
            <a:ext cx="1016000" cy="246888"/>
          </a:xfrm>
        </p:spPr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85800" y="6019801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02336" y="457200"/>
            <a:ext cx="115824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9/20/2026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9/20/2026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85800" y="5849118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5486400"/>
            <a:ext cx="112776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609601" y="609600"/>
            <a:ext cx="4011084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4766733" y="609600"/>
            <a:ext cx="7120467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9/20/2026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4673600" y="616634"/>
            <a:ext cx="67056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08000" y="4993760"/>
            <a:ext cx="78232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508000" y="5533218"/>
            <a:ext cx="78232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549277"/>
            <a:ext cx="2438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549277"/>
            <a:ext cx="83312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85800" y="1050899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06400" y="1554163"/>
            <a:ext cx="115824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8636000" y="76201"/>
            <a:ext cx="33528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9/20/2026</a:t>
            </a:fld>
            <a:endParaRPr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4165600" y="76201"/>
            <a:ext cx="44704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kumimoji="0"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72800" y="6477001"/>
            <a:ext cx="1016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406400" y="457200"/>
            <a:ext cx="115824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85800" y="1050899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685800" y="1057987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 ·  CODEC TECHNOLOGIES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6217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Basket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D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which products customers buy together, using the Apriori algorithm and association rules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Sharad Jain  ·  B.Tech CSE (Data Science)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463040"/>
            <a:ext cx="2103120" cy="1965960"/>
          </a:xfrm>
          <a:prstGeom prst="roundRect">
            <a:avLst>
              <a:gd name="adj" fmla="val 8372"/>
            </a:avLst>
          </a:prstGeom>
          <a:solidFill>
            <a:srgbClr val="1252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52360" y="1874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20,136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D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baskets (invoices)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09760" y="1463040"/>
            <a:ext cx="2103120" cy="1965960"/>
          </a:xfrm>
          <a:prstGeom prst="roundRect">
            <a:avLst>
              <a:gd name="adj" fmla="val 8372"/>
            </a:avLst>
          </a:prstGeom>
          <a:solidFill>
            <a:srgbClr val="1252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38360" y="1874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4,077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973836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D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23760" y="3703320"/>
            <a:ext cx="2103120" cy="1965960"/>
          </a:xfrm>
          <a:prstGeom prst="roundRect">
            <a:avLst>
              <a:gd name="adj" fmla="val 8372"/>
            </a:avLst>
          </a:prstGeom>
          <a:solidFill>
            <a:srgbClr val="1252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52360" y="4114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375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D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itemsets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509760" y="3703320"/>
            <a:ext cx="2103120" cy="1965960"/>
          </a:xfrm>
          <a:prstGeom prst="roundRect">
            <a:avLst>
              <a:gd name="adj" fmla="val 8372"/>
            </a:avLst>
          </a:prstGeom>
          <a:solidFill>
            <a:srgbClr val="1252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38360" y="4114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973836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DE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rules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goal: what do customers buy together?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554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frequently purchased product combinations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4688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association rules with the Apriori algorithm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3832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support, confidence and lift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976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insights in a Streamlit dashboard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212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association rules as a CSV file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75120" y="1463040"/>
            <a:ext cx="4965192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040880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Retail dataset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2860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48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541,909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retail transactions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840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754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InvoiceNo, StockCode, Description, Quantity, InvoiceDate, UnitPrice, CustomerID, Country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the data and building baskets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184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8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541,909 rows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Online Retail dataset (8 columns)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79192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8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531,167 rows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735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descriptions and cancelled invoices removed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9624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9593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8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530,693 rows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439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positive quantities kept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20056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51297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8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20,136 × 4,077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6144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table: invoices × products (1 = bought, 0 = not)</a:t>
            </a:r>
            <a:endParaRPr lang="en-US" sz="1300" dirty="0"/>
          </a:p>
        </p:txBody>
      </p:sp>
      <p:pic>
        <p:nvPicPr>
          <p:cNvPr id="15" name="Image 0" descr="/home/claude/assets/co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570" y="1508760"/>
            <a:ext cx="5667333" cy="45171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Apriori: from baskets to rules</a:t>
            </a:r>
            <a:endParaRPr lang="en-US" sz="3400" dirty="0"/>
          </a:p>
        </p:txBody>
      </p:sp>
      <p:pic>
        <p:nvPicPr>
          <p:cNvPr id="3" name="Image 0" descr="/home/claude/assets/cod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31" y="1508760"/>
            <a:ext cx="5265537" cy="45171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75120" y="1508760"/>
            <a:ext cx="496519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949440" y="16916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8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375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645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itemsets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≥ 0.02: a combination must appear in at least 2% of baskets.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3081528"/>
            <a:ext cx="496519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949440" y="3264408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0.3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321868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confidence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customer buys A, how often do they also buy B?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75120" y="4654296"/>
            <a:ext cx="4965192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949440" y="4837176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8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4791456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rules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&gt; 1: bought together more often than by chance.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graphs show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/home/claude/assets/graph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3896"/>
            <a:ext cx="5074920" cy="30244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50292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frequent itemsets: the best seller, WHITE HANGING HEART T-LIGHT HOLDER, appears in over 11% of all baskets.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99632" y="1417320"/>
            <a:ext cx="54406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/home/claude/assets/graph_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1600689"/>
            <a:ext cx="5074920" cy="329086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73952" y="50292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vs. lift: all 151 useful rules sit well above lift 1 (roughly 3 to 18.5).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Strongest rules and how a store can use them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315200" cy="4343400"/>
        </p:xfrm>
        <a:graphic>
          <a:graphicData uri="http://schemas.openxmlformats.org/drawingml/2006/table">
            <a:tbl>
              <a:tblPr/>
              <a:tblGrid>
                <a:gridCol w="512064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 customer buys  →  they also buy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+ Roses Regency Teacup and Saucer  →  Pink Regency Teacup and Saucer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Pink + Roses Regency Teacup and Saucer  →  Green Regency Teacup and Saucer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Pink Regency Teacup and Saucer  →  Green Regency Teacup and Saucer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+ Pink Regency Teacup and Saucer  →  Roses Regency Teacup and Saucer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Gardeners Kneeling Pad Keep Calm  →  Gardeners Kneeling Pad Cup of Tea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29600" y="1508760"/>
            <a:ext cx="3410712" cy="4343400"/>
          </a:xfrm>
          <a:prstGeom prst="roundRect">
            <a:avLst>
              <a:gd name="adj" fmla="val 40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50392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use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22860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Bundling: </a:t>
            </a:r>
            <a:r>
              <a:rPr lang="en-US" sz="13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the three teacup sets as one combo.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4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Cross-selling: </a:t>
            </a:r>
            <a:r>
              <a:rPr lang="en-US" sz="13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the matching colour at checkout.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4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layout: </a:t>
            </a:r>
            <a:r>
              <a:rPr lang="en-US" sz="13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related designs side by side.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4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Promotions: </a:t>
            </a:r>
            <a:r>
              <a:rPr lang="en-US" sz="13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one item to lift its partner.</a:t>
            </a:r>
            <a:endParaRPr lang="en-US" sz="1300" dirty="0"/>
          </a:p>
        </p:txBody>
      </p:sp>
      <p:sp>
        <p:nvSpPr>
          <p:cNvPr id="3" name="Text 4"/>
          <p:cNvSpPr txBox="1"/>
          <p:nvPr/>
        </p:nvSpPr>
        <p:spPr>
          <a:xfrm>
            <a:off x="850392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18.55 means bought together about 18.5× more often than by chance.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dashboard, limits and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8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16,864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76879" y="1371600"/>
            <a:ext cx="260604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651199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8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651199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analyzed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5118" y="1371600"/>
            <a:ext cx="260604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79438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8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286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479438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itemsets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33358" y="1371600"/>
            <a:ext cx="260604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307678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8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307678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rules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788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E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test run: top 150 products, item pairs, adjustable support and confidence.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5486400" cy="27889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3246120"/>
            <a:ext cx="5440680" cy="27889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features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84048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for transactions, products, itemsets, rules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quantity sold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itemsets and association rules tables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vs. lift scatter plot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sliders for support and confidence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 download of the rules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scope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384048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covers the top 150 products and item pairs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does not mean causation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product recommendations and date-wise sales analysis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customer segmentation and online deployment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9033" y="1883984"/>
            <a:ext cx="86473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smtClean="0">
                <a:latin typeface="High Tower Text" pitchFamily="18" charset="0"/>
              </a:rPr>
              <a:t>THANK YOU</a:t>
            </a:r>
            <a:endParaRPr lang="en-IN" sz="7200" b="1" dirty="0">
              <a:latin typeface="High Tower Text" pitchFamily="18" charset="0"/>
            </a:endParaRPr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2016330824"/>
              </p:ext>
            </p:extLst>
          </p:nvPr>
        </p:nvGraphicFramePr>
        <p:xfrm>
          <a:off x="2683208" y="3272424"/>
          <a:ext cx="7380015" cy="3175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5965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7</TotalTime>
  <Words>535</Words>
  <Application>Microsoft Office PowerPoint</Application>
  <PresentationFormat>Custom</PresentationFormat>
  <Paragraphs>106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Trek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Basket Analysis</dc:title>
  <dc:subject>PptxGenJS Presentation</dc:subject>
  <dc:creator>Sharad Jain</dc:creator>
  <cp:lastModifiedBy>lenovo</cp:lastModifiedBy>
  <cp:revision>3</cp:revision>
  <dcterms:created xsi:type="dcterms:W3CDTF">2026-09-20T09:24:23Z</dcterms:created>
  <dcterms:modified xsi:type="dcterms:W3CDTF">2026-09-20T09:36:03Z</dcterms:modified>
</cp:coreProperties>
</file>